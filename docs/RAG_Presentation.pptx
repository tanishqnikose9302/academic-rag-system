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2597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89006" y="977900"/>
            <a:ext cx="198183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1: Title </a:t>
            </a: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7900" y="1562100"/>
            <a:ext cx="5604510" cy="64658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Arial MT"/>
                <a:cs typeface="Arial MT"/>
              </a:rPr>
              <a:t>Development of a Retrieval-Augmented</a:t>
            </a:r>
            <a:r>
              <a:rPr sz="3200" b="1" spc="5" dirty="0">
                <a:latin typeface="Arial MT"/>
                <a:cs typeface="Arial MT"/>
              </a:rPr>
              <a:t> </a:t>
            </a:r>
            <a:r>
              <a:rPr sz="3200" b="1" dirty="0">
                <a:latin typeface="Arial MT"/>
                <a:cs typeface="Arial MT"/>
              </a:rPr>
              <a:t>Generation Based Academic</a:t>
            </a:r>
            <a:r>
              <a:rPr sz="3200" b="1" spc="5" dirty="0">
                <a:latin typeface="Arial MT"/>
                <a:cs typeface="Arial MT"/>
              </a:rPr>
              <a:t> </a:t>
            </a:r>
            <a:r>
              <a:rPr sz="3200" b="1" dirty="0">
                <a:latin typeface="Arial MT"/>
                <a:cs typeface="Arial MT"/>
              </a:rPr>
              <a:t>Question Answering </a:t>
            </a:r>
            <a:r>
              <a:rPr sz="3200" b="1" spc="-10" dirty="0">
                <a:latin typeface="Arial MT"/>
                <a:cs typeface="Arial MT"/>
              </a:rPr>
              <a:t>System </a:t>
            </a:r>
            <a:r>
              <a:rPr sz="3200" b="1" dirty="0">
                <a:latin typeface="Arial MT"/>
                <a:cs typeface="Arial MT"/>
              </a:rPr>
              <a:t>Using Large</a:t>
            </a:r>
            <a:r>
              <a:rPr sz="3200" b="1" spc="5" dirty="0">
                <a:latin typeface="Arial MT"/>
                <a:cs typeface="Arial MT"/>
              </a:rPr>
              <a:t> </a:t>
            </a:r>
            <a:r>
              <a:rPr sz="3200" b="1" dirty="0">
                <a:latin typeface="Arial MT"/>
                <a:cs typeface="Arial MT"/>
              </a:rPr>
              <a:t>Language</a:t>
            </a:r>
            <a:r>
              <a:rPr sz="3200" b="1" spc="5" dirty="0">
                <a:latin typeface="Arial MT"/>
                <a:cs typeface="Arial MT"/>
              </a:rPr>
              <a:t> </a:t>
            </a:r>
            <a:r>
              <a:rPr sz="3200" b="1" dirty="0">
                <a:latin typeface="Arial MT"/>
                <a:cs typeface="Arial MT"/>
              </a:rPr>
              <a:t>Models</a:t>
            </a:r>
            <a:endParaRPr lang="en-US" sz="3200" b="1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b="1" spc="5" dirty="0">
                <a:latin typeface="Arial MT"/>
                <a:cs typeface="Arial MT"/>
              </a:rPr>
              <a:t> </a:t>
            </a:r>
            <a:r>
              <a:rPr sz="3200" b="1" dirty="0">
                <a:latin typeface="Arial MT"/>
                <a:cs typeface="Arial MT"/>
              </a:rPr>
              <a:t>Submitted</a:t>
            </a:r>
            <a:r>
              <a:rPr sz="3200" b="1" spc="5" dirty="0">
                <a:latin typeface="Arial MT"/>
                <a:cs typeface="Arial MT"/>
              </a:rPr>
              <a:t> </a:t>
            </a:r>
            <a:r>
              <a:rPr sz="3200" b="1" dirty="0">
                <a:latin typeface="Arial MT"/>
                <a:cs typeface="Arial MT"/>
              </a:rPr>
              <a:t>By:</a:t>
            </a:r>
            <a:r>
              <a:rPr sz="3200" b="1" spc="5" dirty="0">
                <a:latin typeface="Arial MT"/>
                <a:cs typeface="Arial MT"/>
              </a:rPr>
              <a:t> </a:t>
            </a:r>
            <a:r>
              <a:rPr sz="3200" b="1" dirty="0">
                <a:latin typeface="Arial MT"/>
                <a:cs typeface="Arial MT"/>
              </a:rPr>
              <a:t>Tanishq</a:t>
            </a:r>
            <a:r>
              <a:rPr sz="3200" b="1" spc="5" dirty="0">
                <a:latin typeface="Arial MT"/>
                <a:cs typeface="Arial MT"/>
              </a:rPr>
              <a:t> </a:t>
            </a:r>
            <a:r>
              <a:rPr sz="3200" b="1" dirty="0">
                <a:latin typeface="Arial MT"/>
                <a:cs typeface="Arial MT"/>
              </a:rPr>
              <a:t>Yashwant</a:t>
            </a:r>
            <a:r>
              <a:rPr sz="3200" b="1" spc="5" dirty="0">
                <a:latin typeface="Arial MT"/>
                <a:cs typeface="Arial MT"/>
              </a:rPr>
              <a:t> </a:t>
            </a:r>
            <a:r>
              <a:rPr sz="3200" b="1" dirty="0" err="1">
                <a:latin typeface="Arial MT"/>
                <a:cs typeface="Arial MT"/>
              </a:rPr>
              <a:t>Nikose</a:t>
            </a:r>
            <a:endParaRPr lang="en-US" sz="3200" b="1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b="1" spc="5" dirty="0">
                <a:latin typeface="Arial MT"/>
                <a:cs typeface="Arial MT"/>
              </a:rPr>
              <a:t> </a:t>
            </a:r>
            <a:r>
              <a:rPr sz="3200" b="1" spc="-10" dirty="0">
                <a:latin typeface="Arial MT"/>
                <a:cs typeface="Arial MT"/>
              </a:rPr>
              <a:t>(MT26CSE004) </a:t>
            </a:r>
            <a:r>
              <a:rPr sz="3200" b="1" dirty="0">
                <a:latin typeface="Arial MT"/>
                <a:cs typeface="Arial MT"/>
              </a:rPr>
              <a:t>Programme:</a:t>
            </a:r>
            <a:r>
              <a:rPr sz="3200" b="1" spc="-10" dirty="0">
                <a:latin typeface="Arial MT"/>
                <a:cs typeface="Arial MT"/>
              </a:rPr>
              <a:t> </a:t>
            </a:r>
            <a:r>
              <a:rPr sz="3200" b="1" dirty="0">
                <a:latin typeface="Arial MT"/>
                <a:cs typeface="Arial MT"/>
              </a:rPr>
              <a:t>M.Tech.</a:t>
            </a:r>
            <a:r>
              <a:rPr sz="3200" b="1" spc="-5" dirty="0">
                <a:latin typeface="Arial MT"/>
                <a:cs typeface="Arial MT"/>
              </a:rPr>
              <a:t> </a:t>
            </a:r>
            <a:r>
              <a:rPr sz="3200" b="1" dirty="0">
                <a:latin typeface="Arial MT"/>
                <a:cs typeface="Arial MT"/>
              </a:rPr>
              <a:t>(CSE</a:t>
            </a:r>
            <a:r>
              <a:rPr sz="3200" b="1" spc="-5" dirty="0">
                <a:latin typeface="Arial MT"/>
                <a:cs typeface="Arial MT"/>
              </a:rPr>
              <a:t> </a:t>
            </a:r>
            <a:r>
              <a:rPr sz="3200" b="1" dirty="0">
                <a:latin typeface="Arial MT"/>
                <a:cs typeface="Arial MT"/>
              </a:rPr>
              <a:t>–</a:t>
            </a:r>
            <a:r>
              <a:rPr sz="3200" b="1" spc="-5" dirty="0">
                <a:latin typeface="Arial MT"/>
                <a:cs typeface="Arial MT"/>
              </a:rPr>
              <a:t> </a:t>
            </a:r>
            <a:r>
              <a:rPr sz="3200" b="1" dirty="0">
                <a:latin typeface="Arial MT"/>
                <a:cs typeface="Arial MT"/>
              </a:rPr>
              <a:t>Generative</a:t>
            </a:r>
            <a:r>
              <a:rPr sz="3200" b="1" spc="-5" dirty="0">
                <a:latin typeface="Arial MT"/>
                <a:cs typeface="Arial MT"/>
              </a:rPr>
              <a:t> </a:t>
            </a:r>
            <a:r>
              <a:rPr sz="3200" b="1" dirty="0">
                <a:latin typeface="Arial MT"/>
                <a:cs typeface="Arial MT"/>
              </a:rPr>
              <a:t>AI)</a:t>
            </a:r>
            <a:r>
              <a:rPr sz="3200" b="1" spc="-5" dirty="0">
                <a:latin typeface="Arial MT"/>
                <a:cs typeface="Arial MT"/>
              </a:rPr>
              <a:t> </a:t>
            </a:r>
            <a:endParaRPr lang="en-US" sz="3200" b="1" spc="-5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Arial MT"/>
                <a:cs typeface="Arial MT"/>
              </a:rPr>
              <a:t>Guide:</a:t>
            </a:r>
            <a:r>
              <a:rPr sz="3200" b="1" spc="-5" dirty="0">
                <a:latin typeface="Arial MT"/>
                <a:cs typeface="Arial MT"/>
              </a:rPr>
              <a:t> </a:t>
            </a:r>
            <a:r>
              <a:rPr sz="3200" b="1" dirty="0">
                <a:latin typeface="Arial MT"/>
                <a:cs typeface="Arial MT"/>
              </a:rPr>
              <a:t>Dr.</a:t>
            </a:r>
            <a:r>
              <a:rPr sz="3200" b="1" spc="-5" dirty="0">
                <a:latin typeface="Arial MT"/>
                <a:cs typeface="Arial MT"/>
              </a:rPr>
              <a:t> </a:t>
            </a:r>
            <a:r>
              <a:rPr sz="3200" b="1" dirty="0">
                <a:latin typeface="Arial MT"/>
                <a:cs typeface="Arial MT"/>
              </a:rPr>
              <a:t>Anil</a:t>
            </a:r>
            <a:r>
              <a:rPr sz="3200" b="1" spc="-10" dirty="0">
                <a:latin typeface="Arial MT"/>
                <a:cs typeface="Arial MT"/>
              </a:rPr>
              <a:t> </a:t>
            </a:r>
            <a:r>
              <a:rPr sz="3200" b="1" dirty="0">
                <a:latin typeface="Arial MT"/>
                <a:cs typeface="Arial MT"/>
              </a:rPr>
              <a:t>Mokhade</a:t>
            </a:r>
            <a:r>
              <a:rPr sz="3200" b="1" spc="-5" dirty="0">
                <a:latin typeface="Arial MT"/>
                <a:cs typeface="Arial MT"/>
              </a:rPr>
              <a:t> </a:t>
            </a:r>
            <a:r>
              <a:rPr sz="3200" b="1" dirty="0">
                <a:latin typeface="Arial MT"/>
                <a:cs typeface="Arial MT"/>
              </a:rPr>
              <a:t>VNIT</a:t>
            </a:r>
            <a:r>
              <a:rPr sz="3200" b="1" spc="-5" dirty="0">
                <a:latin typeface="Arial MT"/>
                <a:cs typeface="Arial MT"/>
              </a:rPr>
              <a:t> </a:t>
            </a:r>
            <a:r>
              <a:rPr sz="3200" b="1" dirty="0">
                <a:latin typeface="Arial MT"/>
                <a:cs typeface="Arial MT"/>
              </a:rPr>
              <a:t>Nagpur</a:t>
            </a:r>
            <a:r>
              <a:rPr sz="3200" b="1" spc="-5" dirty="0">
                <a:latin typeface="Arial MT"/>
                <a:cs typeface="Arial MT"/>
              </a:rPr>
              <a:t> </a:t>
            </a:r>
            <a:endParaRPr lang="en-US" sz="3200" b="1" spc="-5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Arial MT"/>
                <a:cs typeface="Arial MT"/>
              </a:rPr>
              <a:t>Academic</a:t>
            </a:r>
            <a:r>
              <a:rPr sz="3200" b="1" spc="-5" dirty="0">
                <a:latin typeface="Arial MT"/>
                <a:cs typeface="Arial MT"/>
              </a:rPr>
              <a:t> </a:t>
            </a:r>
            <a:r>
              <a:rPr sz="3200" b="1" spc="-20" dirty="0">
                <a:latin typeface="Arial MT"/>
                <a:cs typeface="Arial MT"/>
              </a:rPr>
              <a:t>Year </a:t>
            </a:r>
            <a:r>
              <a:rPr sz="3200" b="1" dirty="0">
                <a:latin typeface="Arial MT"/>
                <a:cs typeface="Arial MT"/>
              </a:rPr>
              <a:t>2026–</a:t>
            </a:r>
            <a:r>
              <a:rPr sz="3200" b="1" spc="-25" dirty="0">
                <a:latin typeface="Arial MT"/>
                <a:cs typeface="Arial MT"/>
              </a:rPr>
              <a:t>27</a:t>
            </a:r>
            <a:endParaRPr sz="3200" b="1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62247" y="977900"/>
            <a:ext cx="22352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2: </a:t>
            </a:r>
            <a:r>
              <a:rPr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7900" y="1562100"/>
            <a:ext cx="4910455" cy="6106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growth of academic digital resources. Traditional</a:t>
            </a:r>
            <a:r>
              <a:rPr sz="44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 search lacks </a:t>
            </a:r>
            <a:r>
              <a:rPr sz="4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</a:t>
            </a:r>
            <a:r>
              <a:rPr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understanding. RAG improves response </a:t>
            </a:r>
            <a:r>
              <a:rPr sz="4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accuracy.</a:t>
            </a:r>
            <a:endParaRPr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7343" y="977900"/>
            <a:ext cx="2985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Slide 3: Problem </a:t>
            </a:r>
            <a:r>
              <a:rPr sz="1800" b="1" spc="-10" dirty="0">
                <a:latin typeface="Arial"/>
                <a:cs typeface="Arial"/>
              </a:rPr>
              <a:t>Statement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7900" y="1562100"/>
            <a:ext cx="5270500" cy="33368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academic documents are</a:t>
            </a:r>
            <a:r>
              <a:rPr sz="36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search manually.</a:t>
            </a:r>
            <a:r>
              <a:rPr sz="36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RAG-based </a:t>
            </a:r>
            <a:r>
              <a:rPr sz="3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Answering </a:t>
            </a:r>
            <a:r>
              <a:rPr sz="3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50830" y="977900"/>
            <a:ext cx="2058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Slide 4: </a:t>
            </a:r>
            <a:r>
              <a:rPr sz="1800" b="1" spc="-10" dirty="0">
                <a:latin typeface="Arial"/>
                <a:cs typeface="Arial"/>
              </a:rPr>
              <a:t>Objectives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7900" y="1562100"/>
            <a:ext cx="5517515" cy="47525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text from PDFs, generate embeddings, create FAISS database, implement RAG, </a:t>
            </a:r>
            <a:r>
              <a:rPr sz="4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LLMs, provide </a:t>
            </a:r>
            <a:r>
              <a:rPr sz="4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citations.</a:t>
            </a:r>
            <a:endParaRPr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88841" y="977900"/>
            <a:ext cx="2782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Slide 5: Literature </a:t>
            </a:r>
            <a:r>
              <a:rPr sz="1800" b="1" spc="-10" dirty="0">
                <a:latin typeface="Arial"/>
                <a:cs typeface="Arial"/>
              </a:rPr>
              <a:t>Survey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3050" y="1562100"/>
            <a:ext cx="7283450" cy="77687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Lewis et al. (2020)</a:t>
            </a:r>
          </a:p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Generation for Knowledge-Intensive NLP Tasks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Introduced RAG architecture.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retrieval with generation. </a:t>
            </a:r>
          </a:p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Devlin et al. (2018)</a:t>
            </a:r>
          </a:p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Contextual language understanding.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NLP performance. </a:t>
            </a:r>
          </a:p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Touran et al. (2023)</a:t>
            </a:r>
          </a:p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open-source language models.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performance with lower computational cost. 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60291" y="977900"/>
            <a:ext cx="2439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Slide 6: Research </a:t>
            </a:r>
            <a:r>
              <a:rPr sz="1800" b="1" spc="-25" dirty="0">
                <a:latin typeface="Arial"/>
                <a:cs typeface="Arial"/>
              </a:rPr>
              <a:t>Gap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7900" y="1562100"/>
            <a:ext cx="4444365" cy="44448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lack</a:t>
            </a:r>
            <a:r>
              <a:rPr sz="48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understanding</a:t>
            </a:r>
            <a:r>
              <a:rPr sz="48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document-specific</a:t>
            </a:r>
            <a:r>
              <a:rPr sz="48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retrieval.</a:t>
            </a:r>
            <a:endParaRPr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58858" y="977900"/>
            <a:ext cx="3442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Slide 7: Proposed </a:t>
            </a:r>
            <a:r>
              <a:rPr b="1" spc="-10" dirty="0">
                <a:latin typeface="Arial"/>
                <a:cs typeface="Arial"/>
              </a:rPr>
              <a:t>Methodology</a:t>
            </a:r>
            <a:endParaRPr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7900" y="1562100"/>
            <a:ext cx="3973829" cy="3706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latin typeface="Arial MT"/>
                <a:cs typeface="Arial MT"/>
              </a:rPr>
              <a:t>Document</a:t>
            </a:r>
            <a:r>
              <a:rPr sz="4000" b="1" spc="-5" dirty="0">
                <a:latin typeface="Arial MT"/>
                <a:cs typeface="Arial MT"/>
              </a:rPr>
              <a:t> </a:t>
            </a:r>
            <a:r>
              <a:rPr sz="4000" b="1" dirty="0">
                <a:latin typeface="Arial MT"/>
                <a:cs typeface="Arial MT"/>
              </a:rPr>
              <a:t>Processing</a:t>
            </a:r>
            <a:r>
              <a:rPr sz="4000" b="1" spc="-5" dirty="0">
                <a:latin typeface="Arial MT"/>
                <a:cs typeface="Arial MT"/>
              </a:rPr>
              <a:t> </a:t>
            </a:r>
            <a:r>
              <a:rPr sz="4000" b="1" dirty="0">
                <a:latin typeface="Symbol"/>
                <a:cs typeface="Symbol"/>
              </a:rPr>
              <a:t></a:t>
            </a:r>
            <a:r>
              <a:rPr sz="4000" b="1" spc="20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Arial MT"/>
                <a:cs typeface="Arial MT"/>
              </a:rPr>
              <a:t>Knowledge Base</a:t>
            </a:r>
            <a:r>
              <a:rPr sz="4000" b="1" spc="-5" dirty="0">
                <a:latin typeface="Arial MT"/>
                <a:cs typeface="Arial MT"/>
              </a:rPr>
              <a:t> </a:t>
            </a:r>
            <a:r>
              <a:rPr sz="4000" b="1" dirty="0">
                <a:latin typeface="Symbol"/>
                <a:cs typeface="Symbol"/>
              </a:rPr>
              <a:t></a:t>
            </a:r>
            <a:r>
              <a:rPr sz="4000" b="1" spc="20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Arial MT"/>
                <a:cs typeface="Arial MT"/>
              </a:rPr>
              <a:t>Retrieval</a:t>
            </a:r>
            <a:r>
              <a:rPr sz="4000" b="1" spc="-5" dirty="0">
                <a:latin typeface="Arial MT"/>
                <a:cs typeface="Arial MT"/>
              </a:rPr>
              <a:t> </a:t>
            </a:r>
            <a:r>
              <a:rPr sz="4000" b="1" dirty="0">
                <a:latin typeface="Symbol"/>
                <a:cs typeface="Symbol"/>
              </a:rPr>
              <a:t></a:t>
            </a:r>
            <a:r>
              <a:rPr sz="4000" b="1" spc="25" dirty="0">
                <a:latin typeface="Times New Roman"/>
                <a:cs typeface="Times New Roman"/>
              </a:rPr>
              <a:t> </a:t>
            </a:r>
            <a:r>
              <a:rPr sz="4000" b="1" spc="-10" dirty="0">
                <a:latin typeface="Arial MT"/>
                <a:cs typeface="Arial MT"/>
              </a:rPr>
              <a:t>Generation.</a:t>
            </a:r>
            <a:endParaRPr sz="4000" b="1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17391" y="977900"/>
            <a:ext cx="3125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Slide 8: System </a:t>
            </a:r>
            <a:r>
              <a:rPr sz="1800" b="1" spc="-10" dirty="0">
                <a:latin typeface="Arial"/>
                <a:cs typeface="Arial"/>
              </a:rPr>
              <a:t>Architecture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7900" y="1562100"/>
            <a:ext cx="5125720" cy="54296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sz="4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sz="4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b="1" dirty="0">
                <a:latin typeface="Symbol"/>
                <a:cs typeface="Symbol"/>
              </a:rPr>
              <a:t></a:t>
            </a:r>
            <a:r>
              <a:rPr sz="4400" b="1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/>
              <a:t>Interface</a:t>
            </a:r>
            <a:r>
              <a:rPr sz="4400" b="1" spc="-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b="1" dirty="0">
                <a:latin typeface="Symbol"/>
                <a:cs typeface="Symbol"/>
              </a:rPr>
              <a:t></a:t>
            </a:r>
            <a:r>
              <a:rPr sz="4400" b="1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</a:t>
            </a:r>
            <a:r>
              <a:rPr sz="4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sz="4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b="1" dirty="0">
                <a:latin typeface="Symbol"/>
                <a:cs typeface="Symbol"/>
              </a:rPr>
              <a:t></a:t>
            </a:r>
            <a:r>
              <a:rPr sz="4400" b="1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sz="4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Chunking</a:t>
            </a:r>
            <a:r>
              <a:rPr sz="4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b="1" dirty="0">
                <a:latin typeface="Symbol"/>
                <a:cs typeface="Symbol"/>
              </a:rPr>
              <a:t></a:t>
            </a:r>
            <a:r>
              <a:rPr sz="4400" b="1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sz="4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b="1" dirty="0">
                <a:latin typeface="Symbol"/>
                <a:cs typeface="Symbol"/>
              </a:rPr>
              <a:t></a:t>
            </a:r>
            <a:r>
              <a:rPr sz="4400" b="1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FAISS</a:t>
            </a:r>
            <a:r>
              <a:rPr sz="4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b="1" dirty="0">
                <a:latin typeface="Symbol"/>
                <a:cs typeface="Symbol"/>
              </a:rPr>
              <a:t> </a:t>
            </a:r>
            <a:r>
              <a:rPr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Retriever</a:t>
            </a:r>
            <a:r>
              <a:rPr lang="en-IN" sz="4400" b="1" dirty="0">
                <a:latin typeface="Symbol"/>
                <a:cs typeface="Symbol"/>
              </a:rPr>
              <a:t>  </a:t>
            </a:r>
            <a:r>
              <a:rPr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  <a:r>
              <a:rPr sz="4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b="1" dirty="0">
                <a:latin typeface="Symbol"/>
                <a:cs typeface="Symbol"/>
              </a:rPr>
              <a:t></a:t>
            </a:r>
            <a:r>
              <a:rPr sz="4400" b="1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Response.</a:t>
            </a:r>
            <a:endParaRPr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79330" y="977900"/>
            <a:ext cx="3201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Slide 9: Hardware &amp; </a:t>
            </a:r>
            <a:r>
              <a:rPr sz="1800" b="1" spc="-10" dirty="0">
                <a:latin typeface="Arial"/>
                <a:cs typeface="Arial"/>
              </a:rPr>
              <a:t>Software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7900" y="1562100"/>
            <a:ext cx="4493260" cy="3706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 i5, 16GB RAM, Python, Streamlit, FAISS, Sentence Transformers, </a:t>
            </a:r>
            <a:r>
              <a:rPr sz="4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sz="4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6528" y="977900"/>
            <a:ext cx="3227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Slide 10: Expected </a:t>
            </a:r>
            <a:r>
              <a:rPr sz="1800" b="1" spc="-10" dirty="0">
                <a:latin typeface="Arial"/>
                <a:cs typeface="Arial"/>
              </a:rPr>
              <a:t>Outcomes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7900" y="1562100"/>
            <a:ext cx="3865879" cy="44448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retrieval</a:t>
            </a:r>
            <a:r>
              <a:rPr lang="en-US" sz="48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and</a:t>
            </a:r>
            <a:r>
              <a:rPr lang="en-US" sz="48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context-aware</a:t>
            </a:r>
            <a:r>
              <a:rPr lang="en-US" sz="48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responses</a:t>
            </a:r>
            <a:r>
              <a:rPr sz="1000" spc="-10" dirty="0">
                <a:latin typeface="Arial MT"/>
                <a:cs typeface="Arial MT"/>
              </a:rPr>
              <a:t>.</a:t>
            </a:r>
            <a:endParaRPr sz="10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35031" y="977900"/>
            <a:ext cx="2489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Slide 11: Future </a:t>
            </a:r>
            <a:r>
              <a:rPr sz="1800" b="1" spc="-10" dirty="0">
                <a:latin typeface="Arial"/>
                <a:cs typeface="Arial"/>
              </a:rPr>
              <a:t>Scope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7900" y="1562100"/>
            <a:ext cx="4642485" cy="4075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Multi-document analysis, voice interaction, cloud deployment, multilingual </a:t>
            </a:r>
            <a:r>
              <a:rPr sz="4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support.</a:t>
            </a:r>
            <a:endParaRPr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3045" y="977900"/>
            <a:ext cx="2273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Slide 12: </a:t>
            </a:r>
            <a:r>
              <a:rPr sz="1800" b="1" spc="-10" dirty="0">
                <a:latin typeface="Arial"/>
                <a:cs typeface="Arial"/>
              </a:rPr>
              <a:t>Conclusion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7900" y="1562100"/>
            <a:ext cx="4621530" cy="19825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combines</a:t>
            </a:r>
            <a:r>
              <a:rPr sz="32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and</a:t>
            </a:r>
            <a:r>
              <a:rPr sz="32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to</a:t>
            </a:r>
            <a:r>
              <a:rPr sz="32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academic</a:t>
            </a:r>
            <a:r>
              <a:rPr sz="32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</a:t>
            </a: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answering.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310</Words>
  <Application>Microsoft Office PowerPoint</Application>
  <PresentationFormat>Custom</PresentationFormat>
  <Paragraphs>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 MT</vt:lpstr>
      <vt:lpstr>Calibri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(anonymous)</dc:title>
  <dc:subject>(unspecified)</dc:subject>
  <dc:creator>(anonymous)</dc:creator>
  <cp:lastModifiedBy>TANISHQ NIKOSE</cp:lastModifiedBy>
  <cp:revision>3</cp:revision>
  <dcterms:created xsi:type="dcterms:W3CDTF">2026-06-03T15:04:19Z</dcterms:created>
  <dcterms:modified xsi:type="dcterms:W3CDTF">2026-06-03T15:21:58Z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2026-06-03T00:00:00Z</vt:filetime>
  </property>
  <property fmtid="{D5CDD505-2E9C-101B-9397-08002B2CF9AE}" pid="4" name="Creator">
    <vt:lpwstr>(unspecified)</vt:lpwstr>
  </property>
  <property fmtid="{D5CDD505-2E9C-101B-9397-08002B2CF9AE}" pid="5" name="LastSaved">
    <vt:filetime>2026-06-03T00:00:00Z</vt:filetime>
  </property>
  <property fmtid="{D5CDD505-2E9C-101B-9397-08002B2CF9AE}" pid="6" name="Producer">
    <vt:lpwstr>ReportLab PDF Library - www.reportlab.com</vt:lpwstr>
  </property>
</Properties>
</file>